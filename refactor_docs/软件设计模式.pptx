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6" r:id="rId9"/>
    <p:sldId id="260" r:id="rId10"/>
    <p:sldId id="261" r:id="rId11"/>
  </p:sldIdLst>
  <p:sldSz cx="12192000" cy="6858000"/>
  <p:notesSz cx="6858000" cy="9144000"/>
  <p:embeddedFontLst>
    <p:embeddedFont>
      <p:font typeface="Cambria Math" panose="02040503050406030204" pitchFamily="18" charset="0"/>
      <p:regular r:id="rId12"/>
    </p:embeddedFont>
    <p:embeddedFont>
      <p:font typeface="Formula1 Display Bold" panose="02000000000000000000" pitchFamily="2" charset="0"/>
      <p:regular r:id="rId13"/>
    </p:embeddedFont>
    <p:embeddedFont>
      <p:font typeface="Yu Mincho" panose="02020400000000000000" pitchFamily="18" charset="-128"/>
      <p:regular r:id="rId14"/>
    </p:embeddedFont>
    <p:embeddedFont>
      <p:font typeface="等线" panose="02010600030101010101" pitchFamily="2" charset="-122"/>
      <p:regular r:id="rId15"/>
      <p:bold r:id="rId16"/>
    </p:embeddedFont>
    <p:embeddedFont>
      <p:font typeface="等线 Light" panose="02010600030101010101" pitchFamily="2" charset="-122"/>
      <p:regular r:id="rId17"/>
    </p:embeddedFont>
    <p:embeddedFont>
      <p:font typeface="思源宋体 CN Medium" panose="02020500000000000000" pitchFamily="18" charset="-122"/>
      <p:regular r:id="rId1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4E6"/>
    <a:srgbClr val="FAF0E6"/>
    <a:srgbClr val="B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9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CA2CC1-CABD-4A6B-F9FC-FD4F1FACC6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8AAE8A-2E69-25CA-B4DF-7ADAD13BD1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0B0F27-852D-B434-3BFF-C2713490C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D8D36-0576-43DB-8C3C-2B9DE53CCA95}" type="datetimeFigureOut">
              <a:rPr lang="zh-CN" altLang="en-US" smtClean="0"/>
              <a:t>2025-12-30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8F6777-CA2A-A29D-05AA-79A238EBF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F64A4A-1ADC-E34B-3B14-D6F6621CF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3B674-C5E6-4AA2-ADB6-ADC10E323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770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B5A9E6-849E-DDC3-32D8-A204612DD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9E6030-8081-E232-7607-4D61BDB4D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C8E551-3894-AB4B-2CDC-90918597B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D8D36-0576-43DB-8C3C-2B9DE53CCA95}" type="datetimeFigureOut">
              <a:rPr lang="zh-CN" altLang="en-US" smtClean="0"/>
              <a:t>2025-12-30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AEE8BF-DA52-7381-7E3F-078DADB32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674A1C-0661-5FD1-1B59-04BF7DE83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3B674-C5E6-4AA2-ADB6-ADC10E323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886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62154A-5695-1D71-EAF2-3C864FD16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84E181-044B-1F0A-1A24-4DF246493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91C358-A6BD-E903-02E0-8549D2B30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D8D36-0576-43DB-8C3C-2B9DE53CCA95}" type="datetimeFigureOut">
              <a:rPr lang="zh-CN" altLang="en-US" smtClean="0"/>
              <a:t>2025-12-30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85B374-8DA2-B209-696C-6FFA4AF60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C434C3-D9AE-F5DB-089F-611DC506D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3B674-C5E6-4AA2-ADB6-ADC10E323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340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CD30C3-35DC-98EC-6FCE-2F0BBF32F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7F10AD-29E6-7A51-0A34-FED0AEAE14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160DE7-3AAA-7F28-A4A8-1C9C00264F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E332F4-F8CA-0C8B-9114-205F9412D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D8D36-0576-43DB-8C3C-2B9DE53CCA95}" type="datetimeFigureOut">
              <a:rPr lang="zh-CN" altLang="en-US" smtClean="0"/>
              <a:t>2025-12-30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D83BD2-A741-12A8-E2B9-4FE4A6006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8A799B7-6CA2-6D70-87C0-A7F72BAFE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3B674-C5E6-4AA2-ADB6-ADC10E323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790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9523A8-1502-C2F9-FBC8-BB172DE5A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5455B38-F0BC-118D-4CFF-24B4400DD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30B170-AA30-03CE-2EB7-CA4527DF2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D5C8C96-F00F-CD10-2B67-1CACD5E328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4DFABA5-8660-4D58-36FB-1D8CEE15B8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35AC5BB-6AB2-5E4D-8289-0A396A554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D8D36-0576-43DB-8C3C-2B9DE53CCA95}" type="datetimeFigureOut">
              <a:rPr lang="zh-CN" altLang="en-US" smtClean="0"/>
              <a:t>2025-12-30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21C24A8-3CFF-D923-B737-ED0E6253C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5B785D8-CB4A-71B2-F354-3DD7E4355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3B674-C5E6-4AA2-ADB6-ADC10E323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09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D918BC-1403-6B69-8C7B-9B539E176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B146E4-1E45-BD22-EBA2-701B5282F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D8D36-0576-43DB-8C3C-2B9DE53CCA95}" type="datetimeFigureOut">
              <a:rPr lang="zh-CN" altLang="en-US" smtClean="0"/>
              <a:t>2025-12-30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D8F56AE-BBE5-19CD-A1B6-E564F8351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93D22C-F46E-6B48-7A4A-22C17506F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3B674-C5E6-4AA2-ADB6-ADC10E323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556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F7E3D71-F980-178A-92E8-A788CAD29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D8D36-0576-43DB-8C3C-2B9DE53CCA95}" type="datetimeFigureOut">
              <a:rPr lang="zh-CN" altLang="en-US" smtClean="0"/>
              <a:t>2025-12-30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71F1D15-C9AA-C223-3AD2-F58904865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C579E0-60EE-4F5A-6547-4CE531830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3B674-C5E6-4AA2-ADB6-ADC10E323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905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63E75-9063-44EF-1FC2-3DB82F024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7EA9AA-C1ED-90A5-BA24-5B86B428D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4D894AC-0474-E2A0-5EF0-43506A485A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009841-E21B-D421-926B-AE4592D15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D8D36-0576-43DB-8C3C-2B9DE53CCA95}" type="datetimeFigureOut">
              <a:rPr lang="zh-CN" altLang="en-US" smtClean="0"/>
              <a:t>2025-12-30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ADED7D-5264-49A6-8E1C-11B942B35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DDDCF4-2B19-B597-D5AC-8EC13ADCB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3B674-C5E6-4AA2-ADB6-ADC10E323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3108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A5C08B-16BC-3E29-6BC6-A9296FEA2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EB1102-1402-305E-66C2-62744C3234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1A63E84-BE8E-CBB4-0E80-51B0ECA45B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FF698A-8AAA-6C30-322A-4E35A0494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D8D36-0576-43DB-8C3C-2B9DE53CCA95}" type="datetimeFigureOut">
              <a:rPr lang="zh-CN" altLang="en-US" smtClean="0"/>
              <a:t>2025-12-30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7E38FF-9946-167F-0FE4-5DD6A9C22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230342-1927-386E-37F9-0302030D1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3B674-C5E6-4AA2-ADB6-ADC10E323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95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628B65-6640-90B6-1E1F-4792646ED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D959FC-E5DF-7007-326D-EEE56677D0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32FA4E-88FA-F773-C8D7-451E58155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D8D36-0576-43DB-8C3C-2B9DE53CCA95}" type="datetimeFigureOut">
              <a:rPr lang="zh-CN" altLang="en-US" smtClean="0"/>
              <a:t>2025-12-30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957F90-4FC2-D66F-DB4B-5437C0B6F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D6157D-46C9-205F-1A8F-A9F7A2DB1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3B674-C5E6-4AA2-ADB6-ADC10E323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25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5B8EB06-520B-1789-A8C0-0E2869B431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CB9819-0A2C-BAF5-5AD0-87B9D7D0B1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CEAB5A-7CFE-2624-E282-CB917DF0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D8D36-0576-43DB-8C3C-2B9DE53CCA95}" type="datetimeFigureOut">
              <a:rPr lang="zh-CN" altLang="en-US" smtClean="0"/>
              <a:t>2025-12-30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657F2B-8C78-BFD8-4977-F343D310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AA3640-AC08-AC74-5304-D31EF073C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3B674-C5E6-4AA2-ADB6-ADC10E323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286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08B856F-8319-BF39-88FF-D449203BA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95D6EA-D597-B759-8BEC-DE43DD310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11C86E-DD07-F069-AF8D-723719A76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0D8D36-0576-43DB-8C3C-2B9DE53CCA95}" type="datetimeFigureOut">
              <a:rPr lang="zh-CN" altLang="en-US" smtClean="0"/>
              <a:t>2025-12-30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E00343-9E6D-8C05-5398-5A4BD03B14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5D9440-FE12-A523-A5A9-B72B420AA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B3B674-C5E6-4AA2-ADB6-ADC10E323A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740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604EEEF-4FC6-75B9-BAB3-1EC9E34B4AAC}"/>
              </a:ext>
            </a:extLst>
          </p:cNvPr>
          <p:cNvSpPr txBox="1"/>
          <p:nvPr/>
        </p:nvSpPr>
        <p:spPr>
          <a:xfrm>
            <a:off x="3200399" y="1963480"/>
            <a:ext cx="57415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B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Software Design Patterns</a:t>
            </a:r>
            <a:endParaRPr lang="zh-CN" altLang="en-US" sz="4000" b="1" dirty="0">
              <a:solidFill>
                <a:srgbClr val="B00000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8960EB7C-500D-2FF6-D076-F7A5558730BF}"/>
              </a:ext>
            </a:extLst>
          </p:cNvPr>
          <p:cNvCxnSpPr>
            <a:cxnSpLocks/>
          </p:cNvCxnSpPr>
          <p:nvPr/>
        </p:nvCxnSpPr>
        <p:spPr>
          <a:xfrm>
            <a:off x="3175590" y="2849525"/>
            <a:ext cx="5791200" cy="0"/>
          </a:xfrm>
          <a:prstGeom prst="line">
            <a:avLst/>
          </a:prstGeom>
          <a:ln>
            <a:solidFill>
              <a:srgbClr val="B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5B0DD9C8-42F1-BA0F-0C51-7F8A590A1DE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8"/>
          <a:stretch/>
        </p:blipFill>
        <p:spPr>
          <a:xfrm>
            <a:off x="10718667" y="229577"/>
            <a:ext cx="1227942" cy="1236270"/>
          </a:xfrm>
          <a:prstGeom prst="rect">
            <a:avLst/>
          </a:prstGeom>
        </p:spPr>
      </p:pic>
      <p:pic>
        <p:nvPicPr>
          <p:cNvPr id="1026" name="Picture 2" descr="Refactoring.Guru">
            <a:extLst>
              <a:ext uri="{FF2B5EF4-FFF2-40B4-BE49-F238E27FC236}">
                <a16:creationId xmlns:a16="http://schemas.microsoft.com/office/drawing/2014/main" id="{CBE5B01F-B736-30CF-C6E1-15D976578C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41" y="229576"/>
            <a:ext cx="1432978" cy="1733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FE27B0D-D13E-92B1-62FC-D8F67FBF71A0}"/>
              </a:ext>
            </a:extLst>
          </p:cNvPr>
          <p:cNvSpPr txBox="1"/>
          <p:nvPr/>
        </p:nvSpPr>
        <p:spPr>
          <a:xfrm>
            <a:off x="4061637" y="3318309"/>
            <a:ext cx="40687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i="1" dirty="0">
                <a:solidFill>
                  <a:srgbClr val="B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Stardew Valley Project Refactoring Report</a:t>
            </a:r>
            <a:endParaRPr lang="zh-CN" altLang="en-US" sz="2400" b="1" i="1" dirty="0">
              <a:solidFill>
                <a:srgbClr val="B00000"/>
              </a:solidFill>
              <a:latin typeface="Cambria Math" panose="020405030504060302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3EB5DEF-B100-E812-B1EC-2CFD7DE20368}"/>
              </a:ext>
            </a:extLst>
          </p:cNvPr>
          <p:cNvSpPr txBox="1"/>
          <p:nvPr/>
        </p:nvSpPr>
        <p:spPr>
          <a:xfrm>
            <a:off x="5411972" y="4664149"/>
            <a:ext cx="1318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  <a:cs typeface="ADLaM Display" panose="02010000000000000000" pitchFamily="2" charset="0"/>
              </a:rPr>
              <a:t>Group 18</a:t>
            </a:r>
            <a:endParaRPr lang="zh-CN" altLang="en-US" dirty="0">
              <a:latin typeface="Cambria Math" panose="02040503050406030204" pitchFamily="18" charset="0"/>
              <a:cs typeface="ADLaM Display" panose="02010000000000000000" pitchFamily="2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08F35F3-63F3-BB3B-1638-1EFC9EBBC7CA}"/>
              </a:ext>
            </a:extLst>
          </p:cNvPr>
          <p:cNvSpPr txBox="1"/>
          <p:nvPr/>
        </p:nvSpPr>
        <p:spPr>
          <a:xfrm>
            <a:off x="2434855" y="5242787"/>
            <a:ext cx="7272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2352495 </a:t>
            </a:r>
            <a:r>
              <a:rPr lang="zh-CN" altLang="en-US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张竹和  </a:t>
            </a:r>
            <a:r>
              <a:rPr lang="en-US" altLang="zh-CN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2353018 </a:t>
            </a:r>
            <a:r>
              <a:rPr lang="zh-CN" altLang="en-US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钱宝强  </a:t>
            </a:r>
            <a:r>
              <a:rPr lang="en-US" altLang="zh-CN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2351588 </a:t>
            </a:r>
            <a:r>
              <a:rPr lang="zh-CN" altLang="en-US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谭鹏翀  </a:t>
            </a:r>
            <a:r>
              <a:rPr lang="en-US" altLang="zh-CN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2351284 </a:t>
            </a:r>
            <a:r>
              <a:rPr lang="zh-CN" altLang="en-US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李思远</a:t>
            </a:r>
          </a:p>
        </p:txBody>
      </p:sp>
    </p:spTree>
    <p:extLst>
      <p:ext uri="{BB962C8B-B14F-4D97-AF65-F5344CB8AC3E}">
        <p14:creationId xmlns:p14="http://schemas.microsoft.com/office/powerpoint/2010/main" val="3098331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D80E0FB-AADE-E9AC-A147-0D2D4D5BAD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8"/>
          <a:stretch/>
        </p:blipFill>
        <p:spPr>
          <a:xfrm>
            <a:off x="10718667" y="229577"/>
            <a:ext cx="1227942" cy="1236270"/>
          </a:xfrm>
          <a:prstGeom prst="rect">
            <a:avLst/>
          </a:prstGeom>
        </p:spPr>
      </p:pic>
      <p:pic>
        <p:nvPicPr>
          <p:cNvPr id="5" name="Picture 2" descr="Refactoring.Guru">
            <a:extLst>
              <a:ext uri="{FF2B5EF4-FFF2-40B4-BE49-F238E27FC236}">
                <a16:creationId xmlns:a16="http://schemas.microsoft.com/office/drawing/2014/main" id="{0BB7F9FB-FE7F-2C6F-9434-5AEB0B36C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41" y="229576"/>
            <a:ext cx="1432978" cy="1733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AF29B27-0F98-2F69-CCEA-84E899605A5D}"/>
              </a:ext>
            </a:extLst>
          </p:cNvPr>
          <p:cNvSpPr txBox="1"/>
          <p:nvPr/>
        </p:nvSpPr>
        <p:spPr>
          <a:xfrm>
            <a:off x="1949302" y="222486"/>
            <a:ext cx="5741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B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Software Design Patterns</a:t>
            </a:r>
            <a:endParaRPr lang="zh-CN" altLang="en-US" sz="3200" b="1" dirty="0">
              <a:solidFill>
                <a:srgbClr val="B00000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8B63C16-0389-7339-6274-39D99D0D842C}"/>
              </a:ext>
            </a:extLst>
          </p:cNvPr>
          <p:cNvCxnSpPr>
            <a:cxnSpLocks/>
          </p:cNvCxnSpPr>
          <p:nvPr/>
        </p:nvCxnSpPr>
        <p:spPr>
          <a:xfrm>
            <a:off x="1949302" y="860439"/>
            <a:ext cx="5791200" cy="0"/>
          </a:xfrm>
          <a:prstGeom prst="line">
            <a:avLst/>
          </a:prstGeom>
          <a:ln>
            <a:solidFill>
              <a:srgbClr val="B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4653299-E60F-B778-239B-A4E2E701631A}"/>
              </a:ext>
            </a:extLst>
          </p:cNvPr>
          <p:cNvSpPr txBox="1"/>
          <p:nvPr/>
        </p:nvSpPr>
        <p:spPr>
          <a:xfrm>
            <a:off x="1949302" y="913618"/>
            <a:ext cx="5741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B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Project Overview</a:t>
            </a:r>
            <a:endParaRPr lang="zh-CN" altLang="en-US" sz="2400" b="1" dirty="0">
              <a:solidFill>
                <a:srgbClr val="B00000"/>
              </a:solidFill>
              <a:latin typeface="Cambria Math" panose="020405030504060302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FEDC09E-7DAF-4963-177D-9697A6FF4C0C}"/>
              </a:ext>
            </a:extLst>
          </p:cNvPr>
          <p:cNvSpPr txBox="1"/>
          <p:nvPr/>
        </p:nvSpPr>
        <p:spPr>
          <a:xfrm>
            <a:off x="439541" y="2227060"/>
            <a:ext cx="1432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Background</a:t>
            </a:r>
            <a:endParaRPr lang="zh-CN" altLang="en-US" b="1" dirty="0">
              <a:latin typeface="Cambria Math" panose="020405030504060302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03AAF49-28B8-5B47-3F4F-F0D76DE614CB}"/>
              </a:ext>
            </a:extLst>
          </p:cNvPr>
          <p:cNvSpPr txBox="1"/>
          <p:nvPr/>
        </p:nvSpPr>
        <p:spPr>
          <a:xfrm>
            <a:off x="439540" y="2675307"/>
            <a:ext cx="53729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A </a:t>
            </a: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Farming Simulation Game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 featuring planting, ranching, exploration, and NPC interaction.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Existing Issues: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High coupling between UI and logic, code duplication, and performance bottlenecks.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pic>
        <p:nvPicPr>
          <p:cNvPr id="6146" name="Picture 2" descr="在Steam 上购买Stardew Valley 立省40%">
            <a:extLst>
              <a:ext uri="{FF2B5EF4-FFF2-40B4-BE49-F238E27FC236}">
                <a16:creationId xmlns:a16="http://schemas.microsoft.com/office/drawing/2014/main" id="{60A4A071-D800-82D8-77E1-09A412BB7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393" y="3896416"/>
            <a:ext cx="4337198" cy="2485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图片 12" descr="图标&#10;&#10;AI 生成的内容可能不正确。">
            <a:extLst>
              <a:ext uri="{FF2B5EF4-FFF2-40B4-BE49-F238E27FC236}">
                <a16:creationId xmlns:a16="http://schemas.microsoft.com/office/drawing/2014/main" id="{2EB814D3-1EB9-3AA6-DE97-2BB328F308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884" y="1149477"/>
            <a:ext cx="916628" cy="916628"/>
          </a:xfrm>
          <a:prstGeom prst="rect">
            <a:avLst/>
          </a:prstGeom>
        </p:spPr>
      </p:pic>
      <p:pic>
        <p:nvPicPr>
          <p:cNvPr id="15" name="图片 14" descr="图标, 漏斗图&#10;&#10;AI 生成的内容可能不正确。">
            <a:extLst>
              <a:ext uri="{FF2B5EF4-FFF2-40B4-BE49-F238E27FC236}">
                <a16:creationId xmlns:a16="http://schemas.microsoft.com/office/drawing/2014/main" id="{60553F69-AD07-2278-C759-5A160D400B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884" y="3143323"/>
            <a:ext cx="916628" cy="916628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35FF38B4-8361-1172-44AF-56B452A07DCF}"/>
              </a:ext>
            </a:extLst>
          </p:cNvPr>
          <p:cNvSpPr txBox="1"/>
          <p:nvPr/>
        </p:nvSpPr>
        <p:spPr>
          <a:xfrm>
            <a:off x="8736180" y="1450548"/>
            <a:ext cx="11968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Coupling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A4BF799-F3CF-2291-015F-67064B5BAC42}"/>
              </a:ext>
            </a:extLst>
          </p:cNvPr>
          <p:cNvSpPr txBox="1"/>
          <p:nvPr/>
        </p:nvSpPr>
        <p:spPr>
          <a:xfrm>
            <a:off x="8736180" y="3432360"/>
            <a:ext cx="11968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Bottleneck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pic>
        <p:nvPicPr>
          <p:cNvPr id="19" name="图片 18" descr="图标&#10;&#10;AI 生成的内容可能不正确。">
            <a:extLst>
              <a:ext uri="{FF2B5EF4-FFF2-40B4-BE49-F238E27FC236}">
                <a16:creationId xmlns:a16="http://schemas.microsoft.com/office/drawing/2014/main" id="{8EA115E3-94F9-8CC4-E09B-85503F134D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0884" y="2047716"/>
            <a:ext cx="916628" cy="91662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71C6AE21-5274-FE1B-0770-C49B5383E3CB}"/>
              </a:ext>
            </a:extLst>
          </p:cNvPr>
          <p:cNvSpPr txBox="1"/>
          <p:nvPr/>
        </p:nvSpPr>
        <p:spPr>
          <a:xfrm>
            <a:off x="8736180" y="2336753"/>
            <a:ext cx="1352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Duplication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7FB59C7-4D03-9725-A5C0-4DE2A6A06619}"/>
              </a:ext>
            </a:extLst>
          </p:cNvPr>
          <p:cNvSpPr txBox="1"/>
          <p:nvPr/>
        </p:nvSpPr>
        <p:spPr>
          <a:xfrm>
            <a:off x="6400802" y="4343301"/>
            <a:ext cx="2262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Design patterns</a:t>
            </a:r>
            <a:endParaRPr lang="zh-CN" altLang="en-US" b="1" dirty="0">
              <a:latin typeface="Cambria Math" panose="020405030504060302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F641EB0-CE89-3191-1405-611D344EDA3B}"/>
              </a:ext>
            </a:extLst>
          </p:cNvPr>
          <p:cNvSpPr txBox="1"/>
          <p:nvPr/>
        </p:nvSpPr>
        <p:spPr>
          <a:xfrm>
            <a:off x="6400802" y="4857483"/>
            <a:ext cx="53729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Factory Method, Flyweight, Observer, Command, Facade, Object Pool.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63603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2B7FB-73E6-3671-73BE-F2268F8D2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322B9D6-547F-C226-4D2B-52FBCD7DF3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8"/>
          <a:stretch/>
        </p:blipFill>
        <p:spPr>
          <a:xfrm>
            <a:off x="10718667" y="229577"/>
            <a:ext cx="1227942" cy="1236270"/>
          </a:xfrm>
          <a:prstGeom prst="rect">
            <a:avLst/>
          </a:prstGeom>
        </p:spPr>
      </p:pic>
      <p:pic>
        <p:nvPicPr>
          <p:cNvPr id="5" name="Picture 2" descr="Refactoring.Guru">
            <a:extLst>
              <a:ext uri="{FF2B5EF4-FFF2-40B4-BE49-F238E27FC236}">
                <a16:creationId xmlns:a16="http://schemas.microsoft.com/office/drawing/2014/main" id="{83A00DBD-720A-8D25-45F1-193A693BBA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41" y="229576"/>
            <a:ext cx="1432978" cy="1733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7559A687-F956-E421-4BB3-17E8E6EDB920}"/>
              </a:ext>
            </a:extLst>
          </p:cNvPr>
          <p:cNvSpPr txBox="1"/>
          <p:nvPr/>
        </p:nvSpPr>
        <p:spPr>
          <a:xfrm>
            <a:off x="1949302" y="222486"/>
            <a:ext cx="5741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B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Software Design Patterns</a:t>
            </a:r>
            <a:endParaRPr lang="zh-CN" altLang="en-US" sz="3200" b="1" dirty="0">
              <a:solidFill>
                <a:srgbClr val="B00000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228CE7D-C4B5-0E09-25E5-158B87C9860D}"/>
              </a:ext>
            </a:extLst>
          </p:cNvPr>
          <p:cNvCxnSpPr>
            <a:cxnSpLocks/>
          </p:cNvCxnSpPr>
          <p:nvPr/>
        </p:nvCxnSpPr>
        <p:spPr>
          <a:xfrm>
            <a:off x="1949302" y="860439"/>
            <a:ext cx="5791200" cy="0"/>
          </a:xfrm>
          <a:prstGeom prst="line">
            <a:avLst/>
          </a:prstGeom>
          <a:ln>
            <a:solidFill>
              <a:srgbClr val="B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B6C4454C-E8A1-E581-D1ED-32C6E6EE1BA0}"/>
              </a:ext>
            </a:extLst>
          </p:cNvPr>
          <p:cNvSpPr txBox="1"/>
          <p:nvPr/>
        </p:nvSpPr>
        <p:spPr>
          <a:xfrm>
            <a:off x="1949302" y="913618"/>
            <a:ext cx="5741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B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Factory Method</a:t>
            </a:r>
            <a:endParaRPr lang="zh-CN" altLang="en-US" sz="2400" b="1" dirty="0">
              <a:solidFill>
                <a:srgbClr val="B00000"/>
              </a:solidFill>
              <a:latin typeface="Cambria Math" panose="020405030504060302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6DCD546-93CC-B855-0CC1-AE16977B6A8D}"/>
              </a:ext>
            </a:extLst>
          </p:cNvPr>
          <p:cNvSpPr txBox="1"/>
          <p:nvPr/>
        </p:nvSpPr>
        <p:spPr>
          <a:xfrm>
            <a:off x="439541" y="2227060"/>
            <a:ext cx="1432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Problem</a:t>
            </a:r>
            <a:endParaRPr lang="zh-CN" altLang="en-US" b="1" dirty="0">
              <a:latin typeface="Cambria Math" panose="020405030504060302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7C6CC8E-DB63-22D4-E115-A0EEB773D754}"/>
              </a:ext>
            </a:extLst>
          </p:cNvPr>
          <p:cNvSpPr txBox="1"/>
          <p:nvPr/>
        </p:nvSpPr>
        <p:spPr>
          <a:xfrm>
            <a:off x="439540" y="2675307"/>
            <a:ext cx="53729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Violation of OCP: </a:t>
            </a:r>
            <a:r>
              <a:rPr lang="en-US" altLang="zh-CN" sz="1600" dirty="0" err="1">
                <a:latin typeface="Yu Mincho" panose="02020400000000000000" pitchFamily="18" charset="-128"/>
                <a:ea typeface="Yu Mincho" panose="02020400000000000000" pitchFamily="18" charset="-128"/>
              </a:rPr>
              <a:t>StoreUI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 relied on long if-else chains to create different animals.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Hardcoding: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Scene boundary coordinates were duplicated across multiple UI classes.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pic>
        <p:nvPicPr>
          <p:cNvPr id="5122" name="Picture 2" descr="|design-patterns/factory-method-&gt;title|">
            <a:extLst>
              <a:ext uri="{FF2B5EF4-FFF2-40B4-BE49-F238E27FC236}">
                <a16:creationId xmlns:a16="http://schemas.microsoft.com/office/drawing/2014/main" id="{1064E8C3-B203-FF05-17B9-FB9A38E9BB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2208" y="933850"/>
            <a:ext cx="523593" cy="373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A0EEC9A-A66F-5CC9-352F-AB1D94777D95}"/>
              </a:ext>
            </a:extLst>
          </p:cNvPr>
          <p:cNvCxnSpPr>
            <a:cxnSpLocks/>
          </p:cNvCxnSpPr>
          <p:nvPr/>
        </p:nvCxnSpPr>
        <p:spPr>
          <a:xfrm>
            <a:off x="6096000" y="2360428"/>
            <a:ext cx="0" cy="3723490"/>
          </a:xfrm>
          <a:prstGeom prst="line">
            <a:avLst/>
          </a:prstGeom>
          <a:ln>
            <a:solidFill>
              <a:srgbClr val="B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185F6E20-7A93-93D7-B4D1-BF22C5D16AD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357" b="24291"/>
          <a:stretch>
            <a:fillRect/>
          </a:stretch>
        </p:blipFill>
        <p:spPr>
          <a:xfrm>
            <a:off x="917136" y="3688820"/>
            <a:ext cx="3758114" cy="175574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C608A55-2285-C135-FAFD-DB6E82F80E69}"/>
              </a:ext>
            </a:extLst>
          </p:cNvPr>
          <p:cNvSpPr txBox="1"/>
          <p:nvPr/>
        </p:nvSpPr>
        <p:spPr>
          <a:xfrm>
            <a:off x="6630610" y="2227060"/>
            <a:ext cx="1432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Solution</a:t>
            </a:r>
            <a:endParaRPr lang="zh-CN" altLang="en-US" b="1" dirty="0">
              <a:latin typeface="Cambria Math" panose="020405030504060302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1C3A350-971E-E236-A7B3-9CAEF54F10E9}"/>
              </a:ext>
            </a:extLst>
          </p:cNvPr>
          <p:cNvSpPr txBox="1"/>
          <p:nvPr/>
        </p:nvSpPr>
        <p:spPr>
          <a:xfrm>
            <a:off x="6630610" y="2675307"/>
            <a:ext cx="51218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 err="1">
                <a:latin typeface="Yu Mincho" panose="02020400000000000000" pitchFamily="18" charset="-128"/>
                <a:ea typeface="Yu Mincho" panose="02020400000000000000" pitchFamily="18" charset="-128"/>
              </a:rPr>
              <a:t>AnimalFactory</a:t>
            </a: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: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 Uses a registry map to create animal instances by string keys.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 err="1">
                <a:latin typeface="Yu Mincho" panose="02020400000000000000" pitchFamily="18" charset="-128"/>
                <a:ea typeface="Yu Mincho" panose="02020400000000000000" pitchFamily="18" charset="-128"/>
              </a:rPr>
              <a:t>SceneBoundaryFactory</a:t>
            </a: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: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 A static factory providing centralized configuration data.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6AAA479F-8304-E869-7DC0-84AEC1BFE9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1516" y="3664437"/>
            <a:ext cx="2864662" cy="2324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F80174F1-98DD-E6C8-A089-17623EC1E0F1}"/>
              </a:ext>
            </a:extLst>
          </p:cNvPr>
          <p:cNvSpPr txBox="1"/>
          <p:nvPr/>
        </p:nvSpPr>
        <p:spPr>
          <a:xfrm>
            <a:off x="6630610" y="3778346"/>
            <a:ext cx="1177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Benefit</a:t>
            </a:r>
            <a:endParaRPr lang="zh-CN" altLang="en-US" b="1" dirty="0"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8F246C6-4C35-B44A-B102-860598C13713}"/>
              </a:ext>
            </a:extLst>
          </p:cNvPr>
          <p:cNvSpPr txBox="1"/>
          <p:nvPr/>
        </p:nvSpPr>
        <p:spPr>
          <a:xfrm>
            <a:off x="6630609" y="4173499"/>
            <a:ext cx="25609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Decoupling: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 UI no longer depends on concrete classes (e.g., Cow, Chicken).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Maintainability: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 Scene boundaries are managed in one place.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pic>
        <p:nvPicPr>
          <p:cNvPr id="11" name="图片 10" descr="文本&#10;&#10;AI 生成的内容可能不正确。">
            <a:extLst>
              <a:ext uri="{FF2B5EF4-FFF2-40B4-BE49-F238E27FC236}">
                <a16:creationId xmlns:a16="http://schemas.microsoft.com/office/drawing/2014/main" id="{1CF3A63C-9D8A-487B-B34C-CF72DB98CEA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1178"/>
          <a:stretch>
            <a:fillRect/>
          </a:stretch>
        </p:blipFill>
        <p:spPr>
          <a:xfrm>
            <a:off x="738613" y="5477866"/>
            <a:ext cx="4115160" cy="124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288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F9323-8415-B2B7-87C7-72017F8DB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>
            <a:extLst>
              <a:ext uri="{FF2B5EF4-FFF2-40B4-BE49-F238E27FC236}">
                <a16:creationId xmlns:a16="http://schemas.microsoft.com/office/drawing/2014/main" id="{63CE8CBF-DBE9-789B-B034-B77C8E6BD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6416" y="2068321"/>
            <a:ext cx="2560905" cy="4102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B1703F2-8FC6-1667-45D1-0C4625C4366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8"/>
          <a:stretch/>
        </p:blipFill>
        <p:spPr>
          <a:xfrm>
            <a:off x="10718667" y="229577"/>
            <a:ext cx="1227942" cy="1236270"/>
          </a:xfrm>
          <a:prstGeom prst="rect">
            <a:avLst/>
          </a:prstGeom>
        </p:spPr>
      </p:pic>
      <p:pic>
        <p:nvPicPr>
          <p:cNvPr id="5" name="Picture 2" descr="Refactoring.Guru">
            <a:extLst>
              <a:ext uri="{FF2B5EF4-FFF2-40B4-BE49-F238E27FC236}">
                <a16:creationId xmlns:a16="http://schemas.microsoft.com/office/drawing/2014/main" id="{EDEDC944-C54D-144A-87E1-D645743CE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41" y="229576"/>
            <a:ext cx="1432978" cy="1733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E7C73CD-04D2-68CE-14C2-D94448E07C69}"/>
              </a:ext>
            </a:extLst>
          </p:cNvPr>
          <p:cNvSpPr txBox="1"/>
          <p:nvPr/>
        </p:nvSpPr>
        <p:spPr>
          <a:xfrm>
            <a:off x="1949302" y="222486"/>
            <a:ext cx="5741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B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Software Design Patterns</a:t>
            </a:r>
            <a:endParaRPr lang="zh-CN" altLang="en-US" sz="3200" b="1" dirty="0">
              <a:solidFill>
                <a:srgbClr val="B00000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CEAD41EA-B0E9-D367-9D98-B3EF49D6EBC4}"/>
              </a:ext>
            </a:extLst>
          </p:cNvPr>
          <p:cNvCxnSpPr>
            <a:cxnSpLocks/>
          </p:cNvCxnSpPr>
          <p:nvPr/>
        </p:nvCxnSpPr>
        <p:spPr>
          <a:xfrm>
            <a:off x="1949302" y="860439"/>
            <a:ext cx="5791200" cy="0"/>
          </a:xfrm>
          <a:prstGeom prst="line">
            <a:avLst/>
          </a:prstGeom>
          <a:ln>
            <a:solidFill>
              <a:srgbClr val="B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B7DFE284-E624-E4A7-55B8-38AC99853EBA}"/>
              </a:ext>
            </a:extLst>
          </p:cNvPr>
          <p:cNvSpPr txBox="1"/>
          <p:nvPr/>
        </p:nvSpPr>
        <p:spPr>
          <a:xfrm>
            <a:off x="1949302" y="913618"/>
            <a:ext cx="5741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B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Flyweight Pattern</a:t>
            </a:r>
            <a:endParaRPr lang="zh-CN" altLang="en-US" sz="2400" b="1" dirty="0">
              <a:solidFill>
                <a:srgbClr val="B00000"/>
              </a:solidFill>
              <a:latin typeface="Cambria Math" panose="020405030504060302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ADF646C-B44E-C084-D948-81FE3AF8A677}"/>
              </a:ext>
            </a:extLst>
          </p:cNvPr>
          <p:cNvSpPr txBox="1"/>
          <p:nvPr/>
        </p:nvSpPr>
        <p:spPr>
          <a:xfrm>
            <a:off x="439541" y="2227060"/>
            <a:ext cx="1432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Problem</a:t>
            </a:r>
            <a:endParaRPr lang="zh-CN" altLang="en-US" b="1" dirty="0">
              <a:latin typeface="Cambria Math" panose="020405030504060302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1350067-3858-ED38-2B0B-FAFF7414D6D9}"/>
              </a:ext>
            </a:extLst>
          </p:cNvPr>
          <p:cNvSpPr txBox="1"/>
          <p:nvPr/>
        </p:nvSpPr>
        <p:spPr>
          <a:xfrm>
            <a:off x="439540" y="2675307"/>
            <a:ext cx="53729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Memory Waste: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Hundreds of Item objects were declared globally.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Redundancy: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Each item instance stored duplicate data (Name, Icon Path, Price).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0EF5AAA-3BD5-A0FF-F444-8D60835905C1}"/>
              </a:ext>
            </a:extLst>
          </p:cNvPr>
          <p:cNvCxnSpPr>
            <a:cxnSpLocks/>
          </p:cNvCxnSpPr>
          <p:nvPr/>
        </p:nvCxnSpPr>
        <p:spPr>
          <a:xfrm>
            <a:off x="6096000" y="2360428"/>
            <a:ext cx="0" cy="3723490"/>
          </a:xfrm>
          <a:prstGeom prst="line">
            <a:avLst/>
          </a:prstGeom>
          <a:ln>
            <a:solidFill>
              <a:srgbClr val="B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E6026DBC-1F4D-1476-72E9-BAF451432D25}"/>
              </a:ext>
            </a:extLst>
          </p:cNvPr>
          <p:cNvSpPr txBox="1"/>
          <p:nvPr/>
        </p:nvSpPr>
        <p:spPr>
          <a:xfrm>
            <a:off x="6630610" y="2227060"/>
            <a:ext cx="1432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Solution</a:t>
            </a:r>
            <a:endParaRPr lang="zh-CN" altLang="en-US" b="1" dirty="0">
              <a:latin typeface="Cambria Math" panose="020405030504060302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9386FFC-BC9B-7DE1-4DFF-32F3E0C15F95}"/>
              </a:ext>
            </a:extLst>
          </p:cNvPr>
          <p:cNvSpPr txBox="1"/>
          <p:nvPr/>
        </p:nvSpPr>
        <p:spPr>
          <a:xfrm>
            <a:off x="6630611" y="2675307"/>
            <a:ext cx="30004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Intrinsic State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: Extracted shared data into </a:t>
            </a:r>
            <a:r>
              <a:rPr lang="en-US" altLang="zh-CN" sz="1600" dirty="0" err="1">
                <a:latin typeface="Yu Mincho" panose="02020400000000000000" pitchFamily="18" charset="-128"/>
                <a:ea typeface="Yu Mincho" panose="02020400000000000000" pitchFamily="18" charset="-128"/>
              </a:rPr>
              <a:t>ItemMetadata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Factory: </a:t>
            </a:r>
            <a:r>
              <a:rPr lang="en-US" altLang="zh-CN" sz="1600" dirty="0" err="1">
                <a:latin typeface="Yu Mincho" panose="02020400000000000000" pitchFamily="18" charset="-128"/>
                <a:ea typeface="Yu Mincho" panose="02020400000000000000" pitchFamily="18" charset="-128"/>
              </a:rPr>
              <a:t>ItemFlyweightFactory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 manages shared instances.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4E7F1AE-E5FE-AB95-C39B-2CAE16C59B1C}"/>
              </a:ext>
            </a:extLst>
          </p:cNvPr>
          <p:cNvSpPr txBox="1"/>
          <p:nvPr/>
        </p:nvSpPr>
        <p:spPr>
          <a:xfrm>
            <a:off x="6630610" y="4260352"/>
            <a:ext cx="1379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Benefit</a:t>
            </a:r>
            <a:endParaRPr lang="zh-CN" altLang="en-US" b="1" dirty="0"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D54A5F7-F89D-B1FB-8D7B-0EFAE5FCC585}"/>
              </a:ext>
            </a:extLst>
          </p:cNvPr>
          <p:cNvSpPr txBox="1"/>
          <p:nvPr/>
        </p:nvSpPr>
        <p:spPr>
          <a:xfrm>
            <a:off x="6630609" y="4655505"/>
            <a:ext cx="30004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Memory Optimization: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Metadata is stored once per item type, not per instance.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Safe Initialization: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Solved the "Static Initialization Order Fiasco".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pic>
        <p:nvPicPr>
          <p:cNvPr id="7170" name="Picture 2" descr="享元">
            <a:extLst>
              <a:ext uri="{FF2B5EF4-FFF2-40B4-BE49-F238E27FC236}">
                <a16:creationId xmlns:a16="http://schemas.microsoft.com/office/drawing/2014/main" id="{F5BA11DA-2A7C-EC98-CA45-F0CE78F3C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602" y="902256"/>
            <a:ext cx="537700" cy="384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 descr="文本&#10;&#10;AI 生成的内容可能不正确。">
            <a:extLst>
              <a:ext uri="{FF2B5EF4-FFF2-40B4-BE49-F238E27FC236}">
                <a16:creationId xmlns:a16="http://schemas.microsoft.com/office/drawing/2014/main" id="{CA15DA29-80F8-A46A-9B7C-CE52591104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005" y="3872250"/>
            <a:ext cx="4773994" cy="1184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719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CCFEB-C502-F009-BBCD-BE4069959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>
            <a:extLst>
              <a:ext uri="{FF2B5EF4-FFF2-40B4-BE49-F238E27FC236}">
                <a16:creationId xmlns:a16="http://schemas.microsoft.com/office/drawing/2014/main" id="{0DE6CCF9-3D52-8AD6-1856-2F0FE61663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9719" y="669602"/>
            <a:ext cx="4475731" cy="2992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4C4FFC9-9F3C-A2C7-DF9A-419A7D3C482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8"/>
          <a:stretch/>
        </p:blipFill>
        <p:spPr>
          <a:xfrm>
            <a:off x="10718667" y="229577"/>
            <a:ext cx="1227942" cy="1236270"/>
          </a:xfrm>
          <a:prstGeom prst="rect">
            <a:avLst/>
          </a:prstGeom>
        </p:spPr>
      </p:pic>
      <p:pic>
        <p:nvPicPr>
          <p:cNvPr id="5" name="Picture 2" descr="Refactoring.Guru">
            <a:extLst>
              <a:ext uri="{FF2B5EF4-FFF2-40B4-BE49-F238E27FC236}">
                <a16:creationId xmlns:a16="http://schemas.microsoft.com/office/drawing/2014/main" id="{B41AE487-FB41-D545-98C2-BB4D8473A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41" y="229576"/>
            <a:ext cx="1432978" cy="1733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E90FD50-C4CF-40AD-5D02-30DBA47B47A4}"/>
              </a:ext>
            </a:extLst>
          </p:cNvPr>
          <p:cNvSpPr txBox="1"/>
          <p:nvPr/>
        </p:nvSpPr>
        <p:spPr>
          <a:xfrm>
            <a:off x="1949302" y="222486"/>
            <a:ext cx="5741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B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Software Design Patterns</a:t>
            </a:r>
            <a:endParaRPr lang="zh-CN" altLang="en-US" sz="3200" b="1" dirty="0">
              <a:solidFill>
                <a:srgbClr val="B00000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BD831A2-AD67-B534-92D3-D005B808A683}"/>
              </a:ext>
            </a:extLst>
          </p:cNvPr>
          <p:cNvCxnSpPr>
            <a:cxnSpLocks/>
          </p:cNvCxnSpPr>
          <p:nvPr/>
        </p:nvCxnSpPr>
        <p:spPr>
          <a:xfrm>
            <a:off x="1949302" y="860439"/>
            <a:ext cx="5791200" cy="0"/>
          </a:xfrm>
          <a:prstGeom prst="line">
            <a:avLst/>
          </a:prstGeom>
          <a:ln>
            <a:solidFill>
              <a:srgbClr val="B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FB084A84-29B4-162F-9994-9A97D1716A20}"/>
              </a:ext>
            </a:extLst>
          </p:cNvPr>
          <p:cNvSpPr txBox="1"/>
          <p:nvPr/>
        </p:nvSpPr>
        <p:spPr>
          <a:xfrm>
            <a:off x="1949302" y="913618"/>
            <a:ext cx="5741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B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Observer Pattern</a:t>
            </a:r>
            <a:endParaRPr lang="zh-CN" altLang="en-US" sz="2400" b="1" dirty="0">
              <a:solidFill>
                <a:srgbClr val="B00000"/>
              </a:solidFill>
              <a:latin typeface="Cambria Math" panose="020405030504060302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A95C1DA-BFA6-2EF7-4308-9CE727DC6CC2}"/>
              </a:ext>
            </a:extLst>
          </p:cNvPr>
          <p:cNvSpPr txBox="1"/>
          <p:nvPr/>
        </p:nvSpPr>
        <p:spPr>
          <a:xfrm>
            <a:off x="439541" y="2227060"/>
            <a:ext cx="1432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Problem</a:t>
            </a:r>
            <a:endParaRPr lang="zh-CN" altLang="en-US" b="1" dirty="0">
              <a:latin typeface="Cambria Math" panose="020405030504060302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7346D22-80ED-9659-D6F3-C6F91D5E3068}"/>
              </a:ext>
            </a:extLst>
          </p:cNvPr>
          <p:cNvSpPr txBox="1"/>
          <p:nvPr/>
        </p:nvSpPr>
        <p:spPr>
          <a:xfrm>
            <a:off x="439540" y="2675307"/>
            <a:ext cx="53729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Inefficient Polling: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Scene classes checked </a:t>
            </a:r>
            <a:r>
              <a:rPr lang="en-US" altLang="zh-CN" sz="1600" dirty="0" err="1">
                <a:latin typeface="Yu Mincho" panose="02020400000000000000" pitchFamily="18" charset="-128"/>
                <a:ea typeface="Yu Mincho" panose="02020400000000000000" pitchFamily="18" charset="-128"/>
              </a:rPr>
              <a:t>is_updated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 flags every frame (0.1s).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Inconsistency: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UI components failed to sync data changes (e.g., Gold, Inventory) automatically.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0A1811D-A102-01F5-2D73-D14876B42AE6}"/>
              </a:ext>
            </a:extLst>
          </p:cNvPr>
          <p:cNvCxnSpPr>
            <a:cxnSpLocks/>
          </p:cNvCxnSpPr>
          <p:nvPr/>
        </p:nvCxnSpPr>
        <p:spPr>
          <a:xfrm>
            <a:off x="6096000" y="2360428"/>
            <a:ext cx="0" cy="3723490"/>
          </a:xfrm>
          <a:prstGeom prst="line">
            <a:avLst/>
          </a:prstGeom>
          <a:ln>
            <a:solidFill>
              <a:srgbClr val="B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9A644F31-14B0-18EA-D8AC-9AAFF5486AC4}"/>
              </a:ext>
            </a:extLst>
          </p:cNvPr>
          <p:cNvSpPr txBox="1"/>
          <p:nvPr/>
        </p:nvSpPr>
        <p:spPr>
          <a:xfrm>
            <a:off x="6467583" y="3715616"/>
            <a:ext cx="1432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Solution</a:t>
            </a:r>
            <a:endParaRPr lang="zh-CN" altLang="en-US" b="1" dirty="0">
              <a:latin typeface="Cambria Math" panose="020405030504060302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BC7880D-BBA7-BDD4-C60B-FCAD509A54CB}"/>
              </a:ext>
            </a:extLst>
          </p:cNvPr>
          <p:cNvSpPr txBox="1"/>
          <p:nvPr/>
        </p:nvSpPr>
        <p:spPr>
          <a:xfrm>
            <a:off x="6467583" y="4163863"/>
            <a:ext cx="54054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Subject: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Core systems (Inventory, </a:t>
            </a:r>
            <a:r>
              <a:rPr lang="en-US" altLang="zh-CN" sz="1600" dirty="0" err="1">
                <a:latin typeface="Yu Mincho" panose="02020400000000000000" pitchFamily="18" charset="-128"/>
                <a:ea typeface="Yu Mincho" panose="02020400000000000000" pitchFamily="18" charset="-128"/>
              </a:rPr>
              <a:t>EconomicSystem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) inherit </a:t>
            </a:r>
            <a:r>
              <a:rPr lang="en-US" altLang="zh-CN" sz="1600" dirty="0" err="1">
                <a:latin typeface="Yu Mincho" panose="02020400000000000000" pitchFamily="18" charset="-128"/>
                <a:ea typeface="Yu Mincho" panose="02020400000000000000" pitchFamily="18" charset="-128"/>
              </a:rPr>
              <a:t>GameStateSubject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Observer: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UI components (</a:t>
            </a:r>
            <a:r>
              <a:rPr lang="en-US" altLang="zh-CN" sz="1600" dirty="0" err="1">
                <a:latin typeface="Yu Mincho" panose="02020400000000000000" pitchFamily="18" charset="-128"/>
                <a:ea typeface="Yu Mincho" panose="02020400000000000000" pitchFamily="18" charset="-128"/>
              </a:rPr>
              <a:t>MiniBag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, </a:t>
            </a:r>
            <a:r>
              <a:rPr lang="en-US" altLang="zh-CN" sz="1600" dirty="0" err="1">
                <a:latin typeface="Yu Mincho" panose="02020400000000000000" pitchFamily="18" charset="-128"/>
                <a:ea typeface="Yu Mincho" panose="02020400000000000000" pitchFamily="18" charset="-128"/>
              </a:rPr>
              <a:t>StoreUI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) inherit </a:t>
            </a:r>
            <a:r>
              <a:rPr lang="en-US" altLang="zh-CN" sz="1600" dirty="0" err="1">
                <a:latin typeface="Yu Mincho" panose="02020400000000000000" pitchFamily="18" charset="-128"/>
                <a:ea typeface="Yu Mincho" panose="02020400000000000000" pitchFamily="18" charset="-128"/>
              </a:rPr>
              <a:t>GameStateObserver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.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019FAC0-8EA7-E8B1-6DD6-24271056B32D}"/>
              </a:ext>
            </a:extLst>
          </p:cNvPr>
          <p:cNvSpPr txBox="1"/>
          <p:nvPr/>
        </p:nvSpPr>
        <p:spPr>
          <a:xfrm>
            <a:off x="6467583" y="5241081"/>
            <a:ext cx="1379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Benefit</a:t>
            </a:r>
            <a:endParaRPr lang="zh-CN" altLang="en-US" b="1" dirty="0"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3784139-CFDD-B3C7-957F-5A9D62460927}"/>
              </a:ext>
            </a:extLst>
          </p:cNvPr>
          <p:cNvSpPr txBox="1"/>
          <p:nvPr/>
        </p:nvSpPr>
        <p:spPr>
          <a:xfrm>
            <a:off x="6467581" y="5636234"/>
            <a:ext cx="5611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Performance: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Removed CPU-intensive polling loops.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Decoupling: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Data Logic is separated from View/UI Logic.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pic>
        <p:nvPicPr>
          <p:cNvPr id="8194" name="Picture 2" descr="观察者">
            <a:extLst>
              <a:ext uri="{FF2B5EF4-FFF2-40B4-BE49-F238E27FC236}">
                <a16:creationId xmlns:a16="http://schemas.microsoft.com/office/drawing/2014/main" id="{ECF24FDF-B5CB-050D-215F-929FA1804B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0924" y="913618"/>
            <a:ext cx="571881" cy="408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11" descr="图形用户界面, 文本, 应用程序, Word&#10;&#10;AI 生成的内容可能不正确。">
            <a:extLst>
              <a:ext uri="{FF2B5EF4-FFF2-40B4-BE49-F238E27FC236}">
                <a16:creationId xmlns:a16="http://schemas.microsoft.com/office/drawing/2014/main" id="{32B7FD2F-FE43-D207-A63F-901F90A79F2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1784"/>
          <a:stretch>
            <a:fillRect/>
          </a:stretch>
        </p:blipFill>
        <p:spPr>
          <a:xfrm>
            <a:off x="917140" y="3896416"/>
            <a:ext cx="4045665" cy="167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095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3E354-2843-FDFE-CED4-C200FCF0A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>
            <a:extLst>
              <a:ext uri="{FF2B5EF4-FFF2-40B4-BE49-F238E27FC236}">
                <a16:creationId xmlns:a16="http://schemas.microsoft.com/office/drawing/2014/main" id="{E66F2FA5-7623-98A6-5C3F-8B62495B1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8417" y="971579"/>
            <a:ext cx="5344042" cy="2704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B84E924-2B3C-A6EF-DA47-02B4AB802D0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8"/>
          <a:stretch/>
        </p:blipFill>
        <p:spPr>
          <a:xfrm>
            <a:off x="10718667" y="229577"/>
            <a:ext cx="1227942" cy="1236270"/>
          </a:xfrm>
          <a:prstGeom prst="rect">
            <a:avLst/>
          </a:prstGeom>
        </p:spPr>
      </p:pic>
      <p:pic>
        <p:nvPicPr>
          <p:cNvPr id="5" name="Picture 2" descr="Refactoring.Guru">
            <a:extLst>
              <a:ext uri="{FF2B5EF4-FFF2-40B4-BE49-F238E27FC236}">
                <a16:creationId xmlns:a16="http://schemas.microsoft.com/office/drawing/2014/main" id="{CE95D0D4-92F2-F450-BE5F-F5906198C5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41" y="229576"/>
            <a:ext cx="1432978" cy="1733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110AB85-2BA0-28B3-12DC-CE2FF37E6CEB}"/>
              </a:ext>
            </a:extLst>
          </p:cNvPr>
          <p:cNvSpPr txBox="1"/>
          <p:nvPr/>
        </p:nvSpPr>
        <p:spPr>
          <a:xfrm>
            <a:off x="1949302" y="222486"/>
            <a:ext cx="5741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B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Software Design Patterns</a:t>
            </a:r>
            <a:endParaRPr lang="zh-CN" altLang="en-US" sz="3200" b="1" dirty="0">
              <a:solidFill>
                <a:srgbClr val="B00000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FC120C68-6358-F35D-3862-8A1810AE762D}"/>
              </a:ext>
            </a:extLst>
          </p:cNvPr>
          <p:cNvCxnSpPr>
            <a:cxnSpLocks/>
          </p:cNvCxnSpPr>
          <p:nvPr/>
        </p:nvCxnSpPr>
        <p:spPr>
          <a:xfrm>
            <a:off x="1949302" y="860439"/>
            <a:ext cx="5791200" cy="0"/>
          </a:xfrm>
          <a:prstGeom prst="line">
            <a:avLst/>
          </a:prstGeom>
          <a:ln>
            <a:solidFill>
              <a:srgbClr val="B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A16EDFB1-EA93-B109-9F3D-1F14E46EBD41}"/>
              </a:ext>
            </a:extLst>
          </p:cNvPr>
          <p:cNvSpPr txBox="1"/>
          <p:nvPr/>
        </p:nvSpPr>
        <p:spPr>
          <a:xfrm>
            <a:off x="1949302" y="913618"/>
            <a:ext cx="5741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B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Command Pattern</a:t>
            </a:r>
            <a:endParaRPr lang="zh-CN" altLang="en-US" sz="2400" b="1" dirty="0">
              <a:solidFill>
                <a:srgbClr val="B00000"/>
              </a:solidFill>
              <a:latin typeface="Cambria Math" panose="020405030504060302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6C0A74-FA6B-8127-916C-F91BD490A396}"/>
              </a:ext>
            </a:extLst>
          </p:cNvPr>
          <p:cNvSpPr txBox="1"/>
          <p:nvPr/>
        </p:nvSpPr>
        <p:spPr>
          <a:xfrm>
            <a:off x="439541" y="2227060"/>
            <a:ext cx="1432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Problem</a:t>
            </a:r>
            <a:endParaRPr lang="zh-CN" altLang="en-US" b="1" dirty="0">
              <a:latin typeface="Cambria Math" panose="020405030504060302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D4BB10F-9FC2-DB2C-E0C7-986E9D40244E}"/>
              </a:ext>
            </a:extLst>
          </p:cNvPr>
          <p:cNvSpPr txBox="1"/>
          <p:nvPr/>
        </p:nvSpPr>
        <p:spPr>
          <a:xfrm>
            <a:off x="439540" y="2675307"/>
            <a:ext cx="537292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Tight Coupling: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Input logic mixed with game logic inside Player and Scene classes.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Rigidity: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Hardcoded key bindings (e.g., KEY_P for planting) made remapping impossible.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60B8691-D927-4A1A-FF3B-5D742A0C4B59}"/>
              </a:ext>
            </a:extLst>
          </p:cNvPr>
          <p:cNvCxnSpPr>
            <a:cxnSpLocks/>
          </p:cNvCxnSpPr>
          <p:nvPr/>
        </p:nvCxnSpPr>
        <p:spPr>
          <a:xfrm>
            <a:off x="6096000" y="2360428"/>
            <a:ext cx="0" cy="3723490"/>
          </a:xfrm>
          <a:prstGeom prst="line">
            <a:avLst/>
          </a:prstGeom>
          <a:ln>
            <a:solidFill>
              <a:srgbClr val="B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E3AFAD14-F4C3-A2DB-9361-C3AEA7E39FBA}"/>
              </a:ext>
            </a:extLst>
          </p:cNvPr>
          <p:cNvSpPr txBox="1"/>
          <p:nvPr/>
        </p:nvSpPr>
        <p:spPr>
          <a:xfrm>
            <a:off x="6467583" y="3715616"/>
            <a:ext cx="1432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Solution</a:t>
            </a:r>
            <a:endParaRPr lang="zh-CN" altLang="en-US" b="1" dirty="0">
              <a:latin typeface="Cambria Math" panose="020405030504060302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5A81CF7-DC06-4D7F-17FD-FEA56F0308EF}"/>
              </a:ext>
            </a:extLst>
          </p:cNvPr>
          <p:cNvSpPr txBox="1"/>
          <p:nvPr/>
        </p:nvSpPr>
        <p:spPr>
          <a:xfrm>
            <a:off x="6467583" y="4163863"/>
            <a:ext cx="54054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Invoker: </a:t>
            </a:r>
            <a:r>
              <a:rPr lang="en-US" altLang="zh-CN" sz="1600" dirty="0" err="1">
                <a:latin typeface="Yu Mincho" panose="02020400000000000000" pitchFamily="18" charset="-128"/>
                <a:ea typeface="Yu Mincho" panose="02020400000000000000" pitchFamily="18" charset="-128"/>
              </a:rPr>
              <a:t>InputManager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 acts as the input dispatch center.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Command: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Encapsulated actions into classes (</a:t>
            </a:r>
            <a:r>
              <a:rPr lang="en-US" altLang="zh-CN" sz="1600" dirty="0" err="1">
                <a:latin typeface="Yu Mincho" panose="02020400000000000000" pitchFamily="18" charset="-128"/>
                <a:ea typeface="Yu Mincho" panose="02020400000000000000" pitchFamily="18" charset="-128"/>
              </a:rPr>
              <a:t>PlantCommand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, </a:t>
            </a:r>
            <a:r>
              <a:rPr lang="en-US" altLang="zh-CN" sz="1600" dirty="0" err="1">
                <a:latin typeface="Yu Mincho" panose="02020400000000000000" pitchFamily="18" charset="-128"/>
                <a:ea typeface="Yu Mincho" panose="02020400000000000000" pitchFamily="18" charset="-128"/>
              </a:rPr>
              <a:t>MoveCommand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).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EA9DB6B-AE21-C73C-4C57-3428B857C516}"/>
              </a:ext>
            </a:extLst>
          </p:cNvPr>
          <p:cNvSpPr txBox="1"/>
          <p:nvPr/>
        </p:nvSpPr>
        <p:spPr>
          <a:xfrm>
            <a:off x="6467583" y="5241081"/>
            <a:ext cx="1379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Benefit</a:t>
            </a:r>
            <a:endParaRPr lang="zh-CN" altLang="en-US" b="1" dirty="0"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D913A53-3226-E8FA-9FFA-E1803CF2EBBE}"/>
              </a:ext>
            </a:extLst>
          </p:cNvPr>
          <p:cNvSpPr txBox="1"/>
          <p:nvPr/>
        </p:nvSpPr>
        <p:spPr>
          <a:xfrm>
            <a:off x="6467581" y="5636234"/>
            <a:ext cx="56110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Separation of Concerns: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Input handling is separated from business logic.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Extensibility: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Easy to add new commands or support custom key bindings.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pic>
        <p:nvPicPr>
          <p:cNvPr id="9218" name="Picture 2" descr="命令">
            <a:extLst>
              <a:ext uri="{FF2B5EF4-FFF2-40B4-BE49-F238E27FC236}">
                <a16:creationId xmlns:a16="http://schemas.microsoft.com/office/drawing/2014/main" id="{4095981E-356B-6BE7-B1CA-FADDFA25C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325" y="913618"/>
            <a:ext cx="612718" cy="437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 descr="文本&#10;&#10;AI 生成的内容可能不正确。">
            <a:extLst>
              <a:ext uri="{FF2B5EF4-FFF2-40B4-BE49-F238E27FC236}">
                <a16:creationId xmlns:a16="http://schemas.microsoft.com/office/drawing/2014/main" id="{A6532AF0-A9AD-D6E6-D6FF-012573780E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626" y="3920670"/>
            <a:ext cx="4762598" cy="191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138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0E60C-52EC-1454-3B43-300B20FA3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Picture 6">
            <a:extLst>
              <a:ext uri="{FF2B5EF4-FFF2-40B4-BE49-F238E27FC236}">
                <a16:creationId xmlns:a16="http://schemas.microsoft.com/office/drawing/2014/main" id="{E6F9008A-EC07-722E-2815-A5F994B9C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667" y="1048745"/>
            <a:ext cx="3094169" cy="2868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42E997EA-24CF-F068-BFAD-9F21017F0FE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8"/>
          <a:stretch/>
        </p:blipFill>
        <p:spPr>
          <a:xfrm>
            <a:off x="10718667" y="229577"/>
            <a:ext cx="1227942" cy="1236270"/>
          </a:xfrm>
          <a:prstGeom prst="rect">
            <a:avLst/>
          </a:prstGeom>
        </p:spPr>
      </p:pic>
      <p:pic>
        <p:nvPicPr>
          <p:cNvPr id="5" name="Picture 2" descr="Refactoring.Guru">
            <a:extLst>
              <a:ext uri="{FF2B5EF4-FFF2-40B4-BE49-F238E27FC236}">
                <a16:creationId xmlns:a16="http://schemas.microsoft.com/office/drawing/2014/main" id="{290FFB15-6C8C-B140-C8DE-579501895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41" y="229576"/>
            <a:ext cx="1432978" cy="1733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6AE211C-E049-DD64-8BA0-7FC64854A861}"/>
              </a:ext>
            </a:extLst>
          </p:cNvPr>
          <p:cNvSpPr txBox="1"/>
          <p:nvPr/>
        </p:nvSpPr>
        <p:spPr>
          <a:xfrm>
            <a:off x="1949302" y="222486"/>
            <a:ext cx="5741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B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Software Design Patterns</a:t>
            </a:r>
            <a:endParaRPr lang="zh-CN" altLang="en-US" sz="3200" b="1" dirty="0">
              <a:solidFill>
                <a:srgbClr val="B00000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A322CBB-CF05-5BCD-8A6F-B6D4760E0264}"/>
              </a:ext>
            </a:extLst>
          </p:cNvPr>
          <p:cNvCxnSpPr>
            <a:cxnSpLocks/>
          </p:cNvCxnSpPr>
          <p:nvPr/>
        </p:nvCxnSpPr>
        <p:spPr>
          <a:xfrm>
            <a:off x="1949302" y="860439"/>
            <a:ext cx="5791200" cy="0"/>
          </a:xfrm>
          <a:prstGeom prst="line">
            <a:avLst/>
          </a:prstGeom>
          <a:ln>
            <a:solidFill>
              <a:srgbClr val="B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DC9866BD-3BF7-7537-F1B3-D3E1A657C659}"/>
              </a:ext>
            </a:extLst>
          </p:cNvPr>
          <p:cNvSpPr txBox="1"/>
          <p:nvPr/>
        </p:nvSpPr>
        <p:spPr>
          <a:xfrm>
            <a:off x="1949302" y="913618"/>
            <a:ext cx="5741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B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Facade Pattern</a:t>
            </a:r>
            <a:endParaRPr lang="zh-CN" altLang="en-US" sz="2400" b="1" dirty="0">
              <a:solidFill>
                <a:srgbClr val="B00000"/>
              </a:solidFill>
              <a:latin typeface="Cambria Math" panose="020405030504060302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C74D48-7649-00F1-2A24-58062B202CFA}"/>
              </a:ext>
            </a:extLst>
          </p:cNvPr>
          <p:cNvSpPr txBox="1"/>
          <p:nvPr/>
        </p:nvSpPr>
        <p:spPr>
          <a:xfrm>
            <a:off x="439541" y="2227060"/>
            <a:ext cx="1432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Problem</a:t>
            </a:r>
            <a:endParaRPr lang="zh-CN" altLang="en-US" b="1" dirty="0">
              <a:latin typeface="Cambria Math" panose="020405030504060302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865D47E-8195-D2A7-8584-0ED9E5695D1B}"/>
              </a:ext>
            </a:extLst>
          </p:cNvPr>
          <p:cNvSpPr txBox="1"/>
          <p:nvPr/>
        </p:nvSpPr>
        <p:spPr>
          <a:xfrm>
            <a:off x="439540" y="2675307"/>
            <a:ext cx="528487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Spaghetti Code: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Complex actions (e.g., Eating) required UI to access multiple subsystems (Inventory, Energy, Economy) simultaneously.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Violation of Law of Demeter: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UI knew too much about system internals.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742411FF-7419-D365-B238-0A9C421BF4F2}"/>
              </a:ext>
            </a:extLst>
          </p:cNvPr>
          <p:cNvCxnSpPr>
            <a:cxnSpLocks/>
          </p:cNvCxnSpPr>
          <p:nvPr/>
        </p:nvCxnSpPr>
        <p:spPr>
          <a:xfrm>
            <a:off x="6096000" y="2360428"/>
            <a:ext cx="0" cy="3723490"/>
          </a:xfrm>
          <a:prstGeom prst="line">
            <a:avLst/>
          </a:prstGeom>
          <a:ln>
            <a:solidFill>
              <a:srgbClr val="B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2FF230A5-27FA-85FF-A2DA-42966BEEE8F9}"/>
              </a:ext>
            </a:extLst>
          </p:cNvPr>
          <p:cNvSpPr txBox="1"/>
          <p:nvPr/>
        </p:nvSpPr>
        <p:spPr>
          <a:xfrm>
            <a:off x="6467583" y="3715616"/>
            <a:ext cx="1432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Solution</a:t>
            </a:r>
            <a:endParaRPr lang="zh-CN" altLang="en-US" b="1" dirty="0">
              <a:latin typeface="Cambria Math" panose="020405030504060302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0FDD5F4-76F5-08BE-E154-42B06624001D}"/>
              </a:ext>
            </a:extLst>
          </p:cNvPr>
          <p:cNvSpPr txBox="1"/>
          <p:nvPr/>
        </p:nvSpPr>
        <p:spPr>
          <a:xfrm>
            <a:off x="6467583" y="4163863"/>
            <a:ext cx="54054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Facade Interface: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Created </a:t>
            </a:r>
            <a:r>
              <a:rPr lang="en-US" altLang="zh-CN" sz="1600" dirty="0" err="1">
                <a:latin typeface="Yu Mincho" panose="02020400000000000000" pitchFamily="18" charset="-128"/>
                <a:ea typeface="Yu Mincho" panose="02020400000000000000" pitchFamily="18" charset="-128"/>
              </a:rPr>
              <a:t>GameInteractionFacade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Unified API: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Provides simple methods like </a:t>
            </a:r>
            <a:r>
              <a:rPr lang="en-US" altLang="zh-CN" sz="1600" dirty="0" err="1">
                <a:latin typeface="Yu Mincho" panose="02020400000000000000" pitchFamily="18" charset="-128"/>
                <a:ea typeface="Yu Mincho" panose="02020400000000000000" pitchFamily="18" charset="-128"/>
              </a:rPr>
              <a:t>consumeFood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() and </a:t>
            </a:r>
            <a:r>
              <a:rPr lang="en-US" altLang="zh-CN" sz="1600" dirty="0" err="1">
                <a:latin typeface="Yu Mincho" panose="02020400000000000000" pitchFamily="18" charset="-128"/>
                <a:ea typeface="Yu Mincho" panose="02020400000000000000" pitchFamily="18" charset="-128"/>
              </a:rPr>
              <a:t>sellItem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().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C8FC5D-E4A8-A6B7-4437-993D7881A205}"/>
              </a:ext>
            </a:extLst>
          </p:cNvPr>
          <p:cNvSpPr txBox="1"/>
          <p:nvPr/>
        </p:nvSpPr>
        <p:spPr>
          <a:xfrm>
            <a:off x="6467583" y="5241081"/>
            <a:ext cx="1379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Benefit</a:t>
            </a:r>
            <a:endParaRPr lang="zh-CN" altLang="en-US" b="1" dirty="0"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70CB3EF-4092-C439-BAB7-FC816C8B6B28}"/>
              </a:ext>
            </a:extLst>
          </p:cNvPr>
          <p:cNvSpPr txBox="1"/>
          <p:nvPr/>
        </p:nvSpPr>
        <p:spPr>
          <a:xfrm>
            <a:off x="6467581" y="5636234"/>
            <a:ext cx="56110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Simplified Client: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UI only interacts with the Facade.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Consistency: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Centralized validation and state synchronization across systems.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pic>
        <p:nvPicPr>
          <p:cNvPr id="10242" name="Picture 2" descr="外观">
            <a:extLst>
              <a:ext uri="{FF2B5EF4-FFF2-40B4-BE49-F238E27FC236}">
                <a16:creationId xmlns:a16="http://schemas.microsoft.com/office/drawing/2014/main" id="{7EFC3218-BA95-B340-2D35-9C213B93F4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0848" y="924223"/>
            <a:ext cx="482452" cy="344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0D443E61-7850-CD30-BCB3-2B91CE6DE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764" y="4222173"/>
            <a:ext cx="4760428" cy="1305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098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B549A-5F2C-EBAA-368B-DF266B900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78F44553-F5C9-6E2D-3EB2-600EAA07F5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2466" y="659905"/>
            <a:ext cx="3680358" cy="3308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13B22173-2BA2-ACEB-D4F4-F7279BB395C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8"/>
          <a:stretch/>
        </p:blipFill>
        <p:spPr>
          <a:xfrm>
            <a:off x="10718667" y="229577"/>
            <a:ext cx="1227942" cy="1236270"/>
          </a:xfrm>
          <a:prstGeom prst="rect">
            <a:avLst/>
          </a:prstGeom>
        </p:spPr>
      </p:pic>
      <p:pic>
        <p:nvPicPr>
          <p:cNvPr id="5" name="Picture 2" descr="Refactoring.Guru">
            <a:extLst>
              <a:ext uri="{FF2B5EF4-FFF2-40B4-BE49-F238E27FC236}">
                <a16:creationId xmlns:a16="http://schemas.microsoft.com/office/drawing/2014/main" id="{FF657335-FD91-88FD-2010-984CC4D3E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41" y="229576"/>
            <a:ext cx="1432978" cy="1733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4448DF6-22F0-D560-0AC8-6C94CA5B7A2B}"/>
              </a:ext>
            </a:extLst>
          </p:cNvPr>
          <p:cNvSpPr txBox="1"/>
          <p:nvPr/>
        </p:nvSpPr>
        <p:spPr>
          <a:xfrm>
            <a:off x="1949302" y="222486"/>
            <a:ext cx="5741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B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Software Design Patterns</a:t>
            </a:r>
            <a:endParaRPr lang="zh-CN" altLang="en-US" sz="3200" b="1" dirty="0">
              <a:solidFill>
                <a:srgbClr val="B00000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074B8552-CBEA-D9A2-81CE-D13248043CE4}"/>
              </a:ext>
            </a:extLst>
          </p:cNvPr>
          <p:cNvCxnSpPr>
            <a:cxnSpLocks/>
          </p:cNvCxnSpPr>
          <p:nvPr/>
        </p:nvCxnSpPr>
        <p:spPr>
          <a:xfrm>
            <a:off x="1949302" y="860439"/>
            <a:ext cx="5791200" cy="0"/>
          </a:xfrm>
          <a:prstGeom prst="line">
            <a:avLst/>
          </a:prstGeom>
          <a:ln>
            <a:solidFill>
              <a:srgbClr val="B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FBB5BFFC-1B63-5EB1-02FF-B09906ED0CDB}"/>
              </a:ext>
            </a:extLst>
          </p:cNvPr>
          <p:cNvSpPr txBox="1"/>
          <p:nvPr/>
        </p:nvSpPr>
        <p:spPr>
          <a:xfrm>
            <a:off x="1949302" y="913618"/>
            <a:ext cx="5741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B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Object Pool Pattern</a:t>
            </a:r>
            <a:endParaRPr lang="zh-CN" altLang="en-US" sz="2400" b="1" dirty="0">
              <a:solidFill>
                <a:srgbClr val="B00000"/>
              </a:solidFill>
              <a:latin typeface="Cambria Math" panose="020405030504060302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FFF9DF-F140-04E9-5441-8DEB6615C52F}"/>
              </a:ext>
            </a:extLst>
          </p:cNvPr>
          <p:cNvSpPr txBox="1"/>
          <p:nvPr/>
        </p:nvSpPr>
        <p:spPr>
          <a:xfrm>
            <a:off x="439541" y="2227060"/>
            <a:ext cx="1432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Problem</a:t>
            </a:r>
            <a:endParaRPr lang="zh-CN" altLang="en-US" b="1" dirty="0">
              <a:latin typeface="Cambria Math" panose="020405030504060302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A999032-6505-F509-42AC-BB094D834D15}"/>
              </a:ext>
            </a:extLst>
          </p:cNvPr>
          <p:cNvSpPr txBox="1"/>
          <p:nvPr/>
        </p:nvSpPr>
        <p:spPr>
          <a:xfrm>
            <a:off x="439540" y="2675307"/>
            <a:ext cx="52848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Performance Lag: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Frequent creation/destruction of Sprite objects during crop 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Memory Fragmentation: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High frequency of new/delete operations.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2E1620D-72E7-2008-A857-6FFEB93B4323}"/>
              </a:ext>
            </a:extLst>
          </p:cNvPr>
          <p:cNvCxnSpPr>
            <a:cxnSpLocks/>
          </p:cNvCxnSpPr>
          <p:nvPr/>
        </p:nvCxnSpPr>
        <p:spPr>
          <a:xfrm>
            <a:off x="6096000" y="2360428"/>
            <a:ext cx="0" cy="3723490"/>
          </a:xfrm>
          <a:prstGeom prst="line">
            <a:avLst/>
          </a:prstGeom>
          <a:ln>
            <a:solidFill>
              <a:srgbClr val="B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A653F1A0-060B-C7ED-429D-3BA290023ABF}"/>
              </a:ext>
            </a:extLst>
          </p:cNvPr>
          <p:cNvSpPr txBox="1"/>
          <p:nvPr/>
        </p:nvSpPr>
        <p:spPr>
          <a:xfrm>
            <a:off x="6467583" y="3715616"/>
            <a:ext cx="1432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Solution</a:t>
            </a:r>
            <a:endParaRPr lang="zh-CN" altLang="en-US" b="1" dirty="0">
              <a:latin typeface="Cambria Math" panose="020405030504060302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A0F143C-9A32-4913-9F33-74D1D17437F3}"/>
              </a:ext>
            </a:extLst>
          </p:cNvPr>
          <p:cNvSpPr txBox="1"/>
          <p:nvPr/>
        </p:nvSpPr>
        <p:spPr>
          <a:xfrm>
            <a:off x="6467583" y="4163863"/>
            <a:ext cx="54054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Pool Manager: </a:t>
            </a:r>
            <a:r>
              <a:rPr lang="en-US" altLang="zh-CN" sz="1600" dirty="0" err="1">
                <a:latin typeface="Yu Mincho" panose="02020400000000000000" pitchFamily="18" charset="-128"/>
                <a:ea typeface="Yu Mincho" panose="02020400000000000000" pitchFamily="18" charset="-128"/>
              </a:rPr>
              <a:t>CropSpritePool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 maintains a collection of initialized sprites.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Reuse Mechanism: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Implemented </a:t>
            </a:r>
            <a:r>
              <a:rPr lang="en-US" altLang="zh-CN" sz="1600" dirty="0" err="1">
                <a:latin typeface="Yu Mincho" panose="02020400000000000000" pitchFamily="18" charset="-128"/>
                <a:ea typeface="Yu Mincho" panose="02020400000000000000" pitchFamily="18" charset="-128"/>
              </a:rPr>
              <a:t>getOrCreateSprite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() (Borrow) and </a:t>
            </a:r>
            <a:r>
              <a:rPr lang="en-US" altLang="zh-CN" sz="1600" dirty="0" err="1">
                <a:latin typeface="Yu Mincho" panose="02020400000000000000" pitchFamily="18" charset="-128"/>
                <a:ea typeface="Yu Mincho" panose="02020400000000000000" pitchFamily="18" charset="-128"/>
              </a:rPr>
              <a:t>recycleSprite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() (Return).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1F1C2C3-78BB-7A45-7BAC-3BB7F01B5BF9}"/>
              </a:ext>
            </a:extLst>
          </p:cNvPr>
          <p:cNvSpPr txBox="1"/>
          <p:nvPr/>
        </p:nvSpPr>
        <p:spPr>
          <a:xfrm>
            <a:off x="6467583" y="5241081"/>
            <a:ext cx="1379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Benefit</a:t>
            </a:r>
            <a:endParaRPr lang="zh-CN" altLang="en-US" b="1" dirty="0">
              <a:latin typeface="Cambria Math" panose="020405030504060302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F4E2D49-EEC4-1071-2FF8-66B5FAB0B285}"/>
              </a:ext>
            </a:extLst>
          </p:cNvPr>
          <p:cNvSpPr txBox="1"/>
          <p:nvPr/>
        </p:nvSpPr>
        <p:spPr>
          <a:xfrm>
            <a:off x="6467581" y="5636234"/>
            <a:ext cx="56110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FPS Stability: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Eliminated instantiation overhead during scene updates.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pic>
        <p:nvPicPr>
          <p:cNvPr id="11" name="图片 10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C96BC926-67E2-8922-010F-0001F83E95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616" y="3831440"/>
            <a:ext cx="4591603" cy="262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321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E6726-4FFC-81C7-F344-9A6340676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星露谷物语- 维基百科，自由的百科全书">
            <a:extLst>
              <a:ext uri="{FF2B5EF4-FFF2-40B4-BE49-F238E27FC236}">
                <a16:creationId xmlns:a16="http://schemas.microsoft.com/office/drawing/2014/main" id="{AB02C27A-DE16-9401-D273-C3F1A223F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0355" y="1794608"/>
            <a:ext cx="3704268" cy="1695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805D8A4-3C18-21F8-7266-F24A9406549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8"/>
          <a:stretch/>
        </p:blipFill>
        <p:spPr>
          <a:xfrm>
            <a:off x="10718667" y="229577"/>
            <a:ext cx="1227942" cy="1236270"/>
          </a:xfrm>
          <a:prstGeom prst="rect">
            <a:avLst/>
          </a:prstGeom>
        </p:spPr>
      </p:pic>
      <p:pic>
        <p:nvPicPr>
          <p:cNvPr id="5" name="Picture 2" descr="Refactoring.Guru">
            <a:extLst>
              <a:ext uri="{FF2B5EF4-FFF2-40B4-BE49-F238E27FC236}">
                <a16:creationId xmlns:a16="http://schemas.microsoft.com/office/drawing/2014/main" id="{2B80EBE3-C924-16F5-6C24-AF5F60087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41" y="229576"/>
            <a:ext cx="1432978" cy="1733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2FD604F-5164-1D9F-628D-8C7CF6BDA7A9}"/>
              </a:ext>
            </a:extLst>
          </p:cNvPr>
          <p:cNvSpPr txBox="1"/>
          <p:nvPr/>
        </p:nvSpPr>
        <p:spPr>
          <a:xfrm>
            <a:off x="1949302" y="222486"/>
            <a:ext cx="57415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B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Software Design Patterns</a:t>
            </a:r>
            <a:endParaRPr lang="zh-CN" altLang="en-US" sz="3200" b="1" dirty="0">
              <a:solidFill>
                <a:srgbClr val="B00000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41CC90B-0C8E-F356-49E2-3FFF947F52ED}"/>
              </a:ext>
            </a:extLst>
          </p:cNvPr>
          <p:cNvCxnSpPr>
            <a:cxnSpLocks/>
          </p:cNvCxnSpPr>
          <p:nvPr/>
        </p:nvCxnSpPr>
        <p:spPr>
          <a:xfrm>
            <a:off x="1949302" y="860439"/>
            <a:ext cx="5791200" cy="0"/>
          </a:xfrm>
          <a:prstGeom prst="line">
            <a:avLst/>
          </a:prstGeom>
          <a:ln>
            <a:solidFill>
              <a:srgbClr val="B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2A8854FF-8F73-88A0-FB0A-5794115F8E45}"/>
              </a:ext>
            </a:extLst>
          </p:cNvPr>
          <p:cNvSpPr txBox="1"/>
          <p:nvPr/>
        </p:nvSpPr>
        <p:spPr>
          <a:xfrm>
            <a:off x="1949302" y="913618"/>
            <a:ext cx="5741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B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Summary &amp; AI Tools</a:t>
            </a:r>
            <a:endParaRPr lang="zh-CN" altLang="en-US" sz="2400" b="1" dirty="0">
              <a:solidFill>
                <a:srgbClr val="B00000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E148990-A238-BCF0-F4B8-18E55418D4C8}"/>
              </a:ext>
            </a:extLst>
          </p:cNvPr>
          <p:cNvCxnSpPr>
            <a:cxnSpLocks/>
          </p:cNvCxnSpPr>
          <p:nvPr/>
        </p:nvCxnSpPr>
        <p:spPr>
          <a:xfrm>
            <a:off x="6096000" y="2360428"/>
            <a:ext cx="0" cy="3723490"/>
          </a:xfrm>
          <a:prstGeom prst="line">
            <a:avLst/>
          </a:prstGeom>
          <a:ln>
            <a:solidFill>
              <a:srgbClr val="B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13ADA323-2ED6-E6D3-0FAC-488B7EC0322B}"/>
              </a:ext>
            </a:extLst>
          </p:cNvPr>
          <p:cNvSpPr txBox="1"/>
          <p:nvPr/>
        </p:nvSpPr>
        <p:spPr>
          <a:xfrm>
            <a:off x="439540" y="2227060"/>
            <a:ext cx="20839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AI tools Usage</a:t>
            </a:r>
            <a:endParaRPr lang="zh-CN" altLang="en-US" b="1" dirty="0">
              <a:latin typeface="Cambria Math" panose="020405030504060302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72DB910-A1FC-C80C-3E2B-51B0A20793E0}"/>
              </a:ext>
            </a:extLst>
          </p:cNvPr>
          <p:cNvSpPr txBox="1"/>
          <p:nvPr/>
        </p:nvSpPr>
        <p:spPr>
          <a:xfrm>
            <a:off x="6609969" y="3829032"/>
            <a:ext cx="1432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ambria Math" panose="02040503050406030204" pitchFamily="18" charset="0"/>
                <a:ea typeface="Cambria Math" panose="02040503050406030204" pitchFamily="18" charset="0"/>
              </a:rPr>
              <a:t>Conclusion</a:t>
            </a:r>
            <a:endParaRPr lang="zh-CN" altLang="en-US" b="1" dirty="0">
              <a:latin typeface="Cambria Math" panose="020405030504060302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1F3F74-95DC-6369-4E74-2D34343B326D}"/>
              </a:ext>
            </a:extLst>
          </p:cNvPr>
          <p:cNvSpPr txBox="1"/>
          <p:nvPr/>
        </p:nvSpPr>
        <p:spPr>
          <a:xfrm>
            <a:off x="439540" y="2675307"/>
            <a:ext cx="48625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GitHub Copilot: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Code review.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Claude 4.0: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Architecture analysis, identifying refactoring opportunities, and providing strategies.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Gemini 3.0: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Knowledge comprehension and problem discussion.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FAA6B8D-8C54-8AB4-DF45-946EB4CA3DA3}"/>
              </a:ext>
            </a:extLst>
          </p:cNvPr>
          <p:cNvSpPr txBox="1"/>
          <p:nvPr/>
        </p:nvSpPr>
        <p:spPr>
          <a:xfrm>
            <a:off x="6609969" y="4277279"/>
            <a:ext cx="52848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Code Quality: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Reduced coupling and improved cohesion (SOLID).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Performance: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Optimized memory (Flyweight) and rendering (Object Pool).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b="1" dirty="0">
                <a:latin typeface="Yu Mincho" panose="02020400000000000000" pitchFamily="18" charset="-128"/>
                <a:ea typeface="Yu Mincho" panose="02020400000000000000" pitchFamily="18" charset="-128"/>
              </a:rPr>
              <a:t>Maintainability: </a:t>
            </a:r>
            <a:r>
              <a:rPr lang="en-US" altLang="zh-CN" sz="1600" dirty="0">
                <a:latin typeface="Yu Mincho" panose="02020400000000000000" pitchFamily="18" charset="-128"/>
                <a:ea typeface="Yu Mincho" panose="02020400000000000000" pitchFamily="18" charset="-128"/>
              </a:rPr>
              <a:t>Replaced hardcoded logic with flexible design patterns.</a:t>
            </a:r>
            <a:endParaRPr lang="zh-CN" altLang="en-US" sz="1600" dirty="0">
              <a:latin typeface="Yu Mincho" panose="02020400000000000000" pitchFamily="18" charset="-128"/>
              <a:ea typeface="Yu Mincho" panose="02020400000000000000" pitchFamily="18" charset="-128"/>
            </a:endParaRP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73555265-AD3F-1763-AE0B-C0EB9E78A0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1505" y="4644001"/>
            <a:ext cx="822547" cy="822547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3755F830-CA95-8444-59C3-395ECB2F54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523459" y="4644000"/>
            <a:ext cx="822546" cy="822546"/>
          </a:xfrm>
          <a:prstGeom prst="rect">
            <a:avLst/>
          </a:prstGeom>
        </p:spPr>
      </p:pic>
      <p:pic>
        <p:nvPicPr>
          <p:cNvPr id="23" name="图形 22">
            <a:extLst>
              <a:ext uri="{FF2B5EF4-FFF2-40B4-BE49-F238E27FC236}">
                <a16:creationId xmlns:a16="http://schemas.microsoft.com/office/drawing/2014/main" id="{9550857E-905C-C8B6-EA77-37F63589C51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62774" y="4644000"/>
            <a:ext cx="822546" cy="82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416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31422-BD97-D8B6-8B7D-EAD1313FE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AF4A74ED-BA4D-4396-7497-88833434CC0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8"/>
          <a:stretch/>
        </p:blipFill>
        <p:spPr>
          <a:xfrm>
            <a:off x="10718667" y="229577"/>
            <a:ext cx="1227942" cy="1236270"/>
          </a:xfrm>
          <a:prstGeom prst="rect">
            <a:avLst/>
          </a:prstGeom>
        </p:spPr>
      </p:pic>
      <p:pic>
        <p:nvPicPr>
          <p:cNvPr id="1026" name="Picture 2" descr="Refactoring.Guru">
            <a:extLst>
              <a:ext uri="{FF2B5EF4-FFF2-40B4-BE49-F238E27FC236}">
                <a16:creationId xmlns:a16="http://schemas.microsoft.com/office/drawing/2014/main" id="{AADEB9B0-001F-B7A2-9A0D-6B42ADDDB0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41" y="229576"/>
            <a:ext cx="1432978" cy="1733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D448181-84AC-722E-441D-DC8C7B0E2E73}"/>
              </a:ext>
            </a:extLst>
          </p:cNvPr>
          <p:cNvSpPr txBox="1"/>
          <p:nvPr/>
        </p:nvSpPr>
        <p:spPr>
          <a:xfrm>
            <a:off x="5411972" y="4664149"/>
            <a:ext cx="13184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ambria Math" panose="02040503050406030204" pitchFamily="18" charset="0"/>
                <a:ea typeface="Cambria Math" panose="02040503050406030204" pitchFamily="18" charset="0"/>
                <a:cs typeface="ADLaM Display" panose="02010000000000000000" pitchFamily="2" charset="0"/>
              </a:rPr>
              <a:t>Group 18</a:t>
            </a:r>
            <a:endParaRPr lang="zh-CN" altLang="en-US" dirty="0">
              <a:latin typeface="Cambria Math" panose="02040503050406030204" pitchFamily="18" charset="0"/>
              <a:cs typeface="ADLaM Display" panose="02010000000000000000" pitchFamily="2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6FBD08D-45E1-67A6-FAE5-9A5D6B5E7020}"/>
              </a:ext>
            </a:extLst>
          </p:cNvPr>
          <p:cNvSpPr txBox="1"/>
          <p:nvPr/>
        </p:nvSpPr>
        <p:spPr>
          <a:xfrm>
            <a:off x="2434855" y="5242787"/>
            <a:ext cx="7272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2352495 </a:t>
            </a:r>
            <a:r>
              <a:rPr lang="zh-CN" altLang="en-US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张竹和  </a:t>
            </a:r>
            <a:r>
              <a:rPr lang="en-US" altLang="zh-CN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2353018 </a:t>
            </a:r>
            <a:r>
              <a:rPr lang="zh-CN" altLang="en-US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钱宝强  </a:t>
            </a:r>
            <a:r>
              <a:rPr lang="en-US" altLang="zh-CN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2351588 </a:t>
            </a:r>
            <a:r>
              <a:rPr lang="zh-CN" altLang="en-US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谭鹏翀  </a:t>
            </a:r>
            <a:r>
              <a:rPr lang="en-US" altLang="zh-CN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2351284 </a:t>
            </a:r>
            <a:r>
              <a:rPr lang="zh-CN" altLang="en-US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李思远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6B2264-4716-F13F-8A24-73BD014128B9}"/>
              </a:ext>
            </a:extLst>
          </p:cNvPr>
          <p:cNvSpPr txBox="1"/>
          <p:nvPr/>
        </p:nvSpPr>
        <p:spPr>
          <a:xfrm>
            <a:off x="4508204" y="2280430"/>
            <a:ext cx="31259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B00000"/>
                </a:solidFill>
                <a:latin typeface="Formula1 Display Bold" panose="0200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Thanks</a:t>
            </a:r>
            <a:endParaRPr lang="zh-CN" altLang="en-US" sz="4800" dirty="0">
              <a:solidFill>
                <a:srgbClr val="B00000"/>
              </a:solidFill>
              <a:latin typeface="Formula1 Display Bold" panose="0200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077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670</Words>
  <Application>Microsoft Office PowerPoint</Application>
  <PresentationFormat>宽屏</PresentationFormat>
  <Paragraphs>92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思源宋体 CN Medium</vt:lpstr>
      <vt:lpstr>等线 Light</vt:lpstr>
      <vt:lpstr>Arial</vt:lpstr>
      <vt:lpstr>Formula1 Display Bold</vt:lpstr>
      <vt:lpstr>Yu Mincho</vt:lpstr>
      <vt:lpstr>等线</vt:lpstr>
      <vt:lpstr>Cambria Math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Tinuvile</dc:creator>
  <cp:lastModifiedBy>Jason Tinuvile</cp:lastModifiedBy>
  <cp:revision>166</cp:revision>
  <dcterms:created xsi:type="dcterms:W3CDTF">2025-12-28T11:57:38Z</dcterms:created>
  <dcterms:modified xsi:type="dcterms:W3CDTF">2025-12-29T18:13:23Z</dcterms:modified>
</cp:coreProperties>
</file>